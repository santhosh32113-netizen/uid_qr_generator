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713232"/>
            <a:ext cx="658368" cy="658368"/>
          </a:xfrm>
          <a:prstGeom prst="roundRect">
            <a:avLst>
              <a:gd name="adj" fmla="val 8000"/>
            </a:avLst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658368" cy="64008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64208"/>
            <a:ext cx="8046720" cy="7132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KUIN-G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87168"/>
            <a:ext cx="8046720" cy="40233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900" b="0">
                <a:solidFill>
                  <a:srgbClr val="DDEFE5"/>
                </a:solidFill>
                <a:latin typeface="Aptos"/>
              </a:defRPr>
            </a:pPr>
            <a:r>
              <a:t>Development metrics, architecture and effort invested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822191"/>
            <a:ext cx="10744200" cy="18288"/>
          </a:xfrm>
          <a:prstGeom prst="rect">
            <a:avLst/>
          </a:prstGeom>
          <a:solidFill>
            <a:srgbClr val="F1BC51"/>
          </a:solidFill>
          <a:ln>
            <a:solidFill>
              <a:srgbClr val="F1B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7955279" cy="64008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A deterministic identity and QR workflow with an explainable operational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44768"/>
            <a:ext cx="4572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DDEFE5"/>
                </a:solidFill>
                <a:latin typeface="Aptos"/>
              </a:defRPr>
            </a:pPr>
            <a:r>
              <a:t>PROJECT REVIEW  ·  23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9875520" cy="56692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A complete path from source workbook to operational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GENERATOR  / 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07208"/>
            <a:ext cx="2514600" cy="36576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RECORDS AT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807208"/>
            <a:ext cx="2514600" cy="36576"/>
          </a:xfrm>
          <a:prstGeom prst="rect">
            <a:avLst/>
          </a:prstGeom>
          <a:solidFill>
            <a:srgbClr val="67B396"/>
          </a:solidFill>
          <a:ln>
            <a:solidFill>
              <a:srgbClr val="67B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CHARACTERS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807208"/>
            <a:ext cx="2514600" cy="36576"/>
          </a:xfrm>
          <a:prstGeom prst="rect">
            <a:avLst/>
          </a:prstGeom>
          <a:solidFill>
            <a:srgbClr val="DA6F57"/>
          </a:solidFill>
          <a:ln>
            <a:solidFill>
              <a:srgbClr val="DA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QR BACKUP FORMATS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2807208"/>
            <a:ext cx="2514600" cy="36576"/>
          </a:xfrm>
          <a:prstGeom prst="rect">
            <a:avLst/>
          </a:prstGeom>
          <a:solidFill>
            <a:srgbClr val="F1BC51"/>
          </a:solidFill>
          <a:ln>
            <a:solidFill>
              <a:srgbClr val="F1B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EXCEL SOURCE OF 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37560"/>
            <a:ext cx="10332720" cy="210312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2C"/>
                </a:solidFill>
                <a:latin typeface="Aptos"/>
              </a:defRPr>
            </a:pPr>
            <a:r>
              <a:t>•  Built a repeatable Drone ID and KUIN-G workflow around the source workbook.</a:t>
            </a:r>
          </a:p>
          <a:p>
            <a:pPr>
              <a:spcAft>
                <a:spcPts val="1000"/>
              </a:spcAft>
              <a:defRPr sz="1700">
                <a:solidFill>
                  <a:srgbClr val="1E2A2C"/>
                </a:solidFill>
                <a:latin typeface="Aptos"/>
              </a:defRPr>
            </a:pPr>
            <a:r>
              <a:t>•  Added duplicate detection, hierarchy validation and authoritative server generation.</a:t>
            </a:r>
          </a:p>
          <a:p>
            <a:pPr>
              <a:spcAft>
                <a:spcPts val="1000"/>
              </a:spcAft>
              <a:defRPr sz="1700">
                <a:solidFill>
                  <a:srgbClr val="1E2A2C"/>
                </a:solidFill>
                <a:latin typeface="Aptos"/>
              </a:defRPr>
            </a:pPr>
            <a:r>
              <a:t>•  Produced PNG, SVG and STL QR assets plus a data-driven local operations panel.</a:t>
            </a:r>
          </a:p>
          <a:p>
            <a:pPr>
              <a:spcAft>
                <a:spcPts val="1000"/>
              </a:spcAft>
              <a:defRPr sz="1700">
                <a:solidFill>
                  <a:srgbClr val="1E2A2C"/>
                </a:solidFill>
                <a:latin typeface="Aptos"/>
              </a:defRPr>
            </a:pPr>
            <a:r>
              <a:t>•  Created a clean CSV handoff for Power BI slicers, measures and asset-level drill-through.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SYSTEM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9875520" cy="56692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Five connected layers make the workflow 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GENERATOR  / 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783080"/>
            <a:ext cx="331927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41148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1">
                <a:solidFill>
                  <a:srgbClr val="146B6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Input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15768"/>
            <a:ext cx="2907792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100" b="0">
                <a:solidFill>
                  <a:srgbClr val="657779"/>
                </a:solidFill>
                <a:latin typeface="Aptos"/>
              </a:defRPr>
            </a:pPr>
            <a:r>
              <a:t>Locate the ID field, identify the data row and read the workbook safely.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1783080"/>
            <a:ext cx="331927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947672"/>
            <a:ext cx="41148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1">
                <a:solidFill>
                  <a:srgbClr val="DA6F5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313432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Validation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715768"/>
            <a:ext cx="2907792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100" b="0">
                <a:solidFill>
                  <a:srgbClr val="657779"/>
                </a:solidFill>
                <a:latin typeface="Aptos"/>
              </a:defRPr>
            </a:pPr>
            <a:r>
              <a:t>Normalize IDs, stop on duplicates and prevent unsafe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783080"/>
            <a:ext cx="331927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1947672"/>
            <a:ext cx="41148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1">
                <a:solidFill>
                  <a:srgbClr val="F1BC5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13432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KUIN-G + QR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715768"/>
            <a:ext cx="2907792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100" b="0">
                <a:solidFill>
                  <a:srgbClr val="657779"/>
                </a:solidFill>
                <a:latin typeface="Aptos"/>
              </a:defRPr>
            </a:pPr>
            <a:r>
              <a:t>Create one KUIN-G and PNG, SVG and STL QR files per Drone 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840480"/>
            <a:ext cx="331927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05072"/>
            <a:ext cx="41148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1">
                <a:solidFill>
                  <a:srgbClr val="67B3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370832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Register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73168"/>
            <a:ext cx="2907792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100" b="0">
                <a:solidFill>
                  <a:srgbClr val="657779"/>
                </a:solidFill>
                <a:latin typeface="Aptos"/>
              </a:defRPr>
            </a:pPr>
            <a:r>
              <a:t>Rebuild controlled registers from the authoritative Excel workbook.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3840480"/>
            <a:ext cx="331927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4005072"/>
            <a:ext cx="411480" cy="29260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1">
                <a:solidFill>
                  <a:srgbClr val="5288A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4370832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Reporting 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773168"/>
            <a:ext cx="2907792" cy="47548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100" b="0">
                <a:solidFill>
                  <a:srgbClr val="657779"/>
                </a:solidFill>
                <a:latin typeface="Aptos"/>
              </a:defRPr>
            </a:pPr>
            <a:r>
              <a:t>Export Power BI CSV and drive the local interactive operations panel.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ENGINEERING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9875520" cy="56692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The current build is measurable and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GENERATOR  / 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07208"/>
            <a:ext cx="2514600" cy="36576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32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SECRET KEY LENGTH ENFORCED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807208"/>
            <a:ext cx="2514600" cy="36576"/>
          </a:xfrm>
          <a:prstGeom prst="rect">
            <a:avLst/>
          </a:prstGeom>
          <a:solidFill>
            <a:srgbClr val="5288AA"/>
          </a:solidFill>
          <a:ln>
            <a:solidFill>
              <a:srgbClr val="52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16-char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PAYLOAD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807208"/>
            <a:ext cx="2514600" cy="36576"/>
          </a:xfrm>
          <a:prstGeom prst="rect">
            <a:avLst/>
          </a:prstGeom>
          <a:solidFill>
            <a:srgbClr val="67B396"/>
          </a:solidFill>
          <a:ln>
            <a:solidFill>
              <a:srgbClr val="67B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INPUT IDS MAPPED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2807208"/>
            <a:ext cx="2514600" cy="36576"/>
          </a:xfrm>
          <a:prstGeom prst="rect">
            <a:avLst/>
          </a:prstGeom>
          <a:solidFill>
            <a:srgbClr val="DA6F57"/>
          </a:solidFill>
          <a:ln>
            <a:solidFill>
              <a:srgbClr val="DA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DUPLICATE KUIN-G COLLISIONS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310128"/>
            <a:ext cx="5349240" cy="2157984"/>
          </a:xfrm>
          <a:prstGeom prst="roundRect">
            <a:avLst>
              <a:gd name="adj" fmla="val 8000"/>
            </a:avLst>
          </a:prstGeom>
          <a:solidFill>
            <a:srgbClr val="DDEFE5"/>
          </a:solidFill>
          <a:ln>
            <a:solidFill>
              <a:srgbClr val="DD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47872"/>
            <a:ext cx="3474720" cy="23774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VALIDATION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13632"/>
            <a:ext cx="4572000" cy="12801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A2C"/>
                </a:solidFill>
                <a:latin typeface="Aptos"/>
              </a:defRPr>
            </a:pPr>
            <a:r>
              <a:t>•  Duplicate hierarchy IDs checked before save</a:t>
            </a:r>
          </a:p>
          <a:p>
            <a:pPr>
              <a:spcAft>
                <a:spcPts val="1000"/>
              </a:spcAft>
              <a:defRPr sz="1400">
                <a:solidFill>
                  <a:srgbClr val="1E2A2C"/>
                </a:solidFill>
                <a:latin typeface="Aptos"/>
              </a:defRPr>
            </a:pPr>
            <a:r>
              <a:t>•  Server generates the primary Drone ID</a:t>
            </a:r>
          </a:p>
          <a:p>
            <a:pPr>
              <a:spcAft>
                <a:spcPts val="1000"/>
              </a:spcAft>
              <a:defRPr sz="1400">
                <a:solidFill>
                  <a:srgbClr val="1E2A2C"/>
                </a:solidFill>
                <a:latin typeface="Aptos"/>
              </a:defRPr>
            </a:pPr>
            <a:r>
              <a:t>•  Every KUIN-G checked for PNG, SVG and STL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10128"/>
            <a:ext cx="5257800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547872"/>
            <a:ext cx="3474720" cy="237744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DATASET 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86200"/>
            <a:ext cx="914400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986784"/>
            <a:ext cx="1828800" cy="21945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0">
                <a:solidFill>
                  <a:srgbClr val="657779"/>
                </a:solidFill>
                <a:latin typeface="Aptos"/>
              </a:defRPr>
            </a:pPr>
            <a:r>
              <a:t>source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590288"/>
            <a:ext cx="914400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690872"/>
            <a:ext cx="3474720" cy="21945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0">
                <a:solidFill>
                  <a:srgbClr val="657779"/>
                </a:solidFill>
                <a:latin typeface="Aptos"/>
              </a:defRPr>
            </a:pPr>
            <a:r>
              <a:t>types  ·  7 formations  ·  13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SECURITY AND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9875520" cy="56692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The key design decision was preserving trust across reruns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GENERATOR  / 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46120" cy="3474720"/>
          </a:xfrm>
          <a:prstGeom prst="roundRect">
            <a:avLst>
              <a:gd name="adj" fmla="val 8000"/>
            </a:avLst>
          </a:prstGeom>
          <a:solidFill>
            <a:srgbClr val="133037"/>
          </a:solidFill>
          <a:ln>
            <a:solidFill>
              <a:srgbClr val="13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48840"/>
            <a:ext cx="2651760" cy="38404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HMAC-SHA256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974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0">
                <a:solidFill>
                  <a:srgbClr val="DDEFE5"/>
                </a:solidFill>
                <a:latin typeface="Aptos"/>
              </a:defRPr>
            </a:pPr>
            <a:r>
              <a:t>secret key + normalized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9184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800" b="1">
                <a:solidFill>
                  <a:srgbClr val="F1BC5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886200"/>
            <a:ext cx="2651760" cy="38404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deterministic KUIN-G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44398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0">
                <a:solidFill>
                  <a:srgbClr val="DDEFE5"/>
                </a:solidFill>
                <a:latin typeface="Aptos"/>
              </a:defRPr>
            </a:pPr>
            <a:r>
              <a:t>same input and key, same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93392"/>
            <a:ext cx="6583680" cy="201168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A2C"/>
                </a:solidFill>
                <a:latin typeface="Aptos"/>
              </a:defRPr>
            </a:pPr>
            <a:r>
              <a:t>•  Secret key is external to Excel and never printed.</a:t>
            </a:r>
          </a:p>
          <a:p>
            <a:pPr>
              <a:spcAft>
                <a:spcPts val="1000"/>
              </a:spcAft>
              <a:defRPr sz="1700">
                <a:solidFill>
                  <a:srgbClr val="1E2A2C"/>
                </a:solidFill>
                <a:latin typeface="Aptos"/>
              </a:defRPr>
            </a:pPr>
            <a:r>
              <a:t>•  Historical register remains authoritative.</a:t>
            </a:r>
          </a:p>
          <a:p>
            <a:pPr>
              <a:spcAft>
                <a:spcPts val="1000"/>
              </a:spcAft>
              <a:defRPr sz="1700">
                <a:solidFill>
                  <a:srgbClr val="1E2A2C"/>
                </a:solidFill>
                <a:latin typeface="Aptos"/>
              </a:defRPr>
            </a:pPr>
            <a:r>
              <a:t>•  New records append without changing old assignments.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251960"/>
            <a:ext cx="6583680" cy="1005840"/>
          </a:xfrm>
          <a:prstGeom prst="roundRect">
            <a:avLst>
              <a:gd name="adj" fmla="val 8000"/>
            </a:avLst>
          </a:prstGeom>
          <a:solidFill>
            <a:srgbClr val="DDEFE5"/>
          </a:solidFill>
          <a:ln>
            <a:solidFill>
              <a:srgbClr val="DD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462272"/>
            <a:ext cx="1645920" cy="21945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000" b="1">
                <a:solidFill>
                  <a:srgbClr val="146B68"/>
                </a:solidFill>
                <a:latin typeface="Aptos"/>
              </a:defRPr>
            </a:pPr>
            <a:r>
              <a:t>Operational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16552"/>
            <a:ext cx="4160520" cy="38404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500" b="1">
                <a:solidFill>
                  <a:srgbClr val="133037"/>
                </a:solidFill>
                <a:latin typeface="Aptos"/>
              </a:defRPr>
            </a:pPr>
            <a:r>
              <a:t>Repeatable identity, auditable changes and safe distribution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INTERACTIVE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9875520" cy="56692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The local panel now behaves like a Power BI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GENERATOR  / 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07208"/>
            <a:ext cx="2514600" cy="36576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ROWS AVAILABLE TO 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807208"/>
            <a:ext cx="2514600" cy="36576"/>
          </a:xfrm>
          <a:prstGeom prst="rect">
            <a:avLst/>
          </a:prstGeom>
          <a:solidFill>
            <a:srgbClr val="5288AA"/>
          </a:solidFill>
          <a:ln>
            <a:solidFill>
              <a:srgbClr val="52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COLUMNS EXPORTED TO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807208"/>
            <a:ext cx="2514600" cy="36576"/>
          </a:xfrm>
          <a:prstGeom prst="rect">
            <a:avLst/>
          </a:prstGeom>
          <a:solidFill>
            <a:srgbClr val="F1BC51"/>
          </a:solidFill>
          <a:ln>
            <a:solidFill>
              <a:srgbClr val="F1B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INTERACTIVE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83080"/>
            <a:ext cx="25146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2807208"/>
            <a:ext cx="2514600" cy="36576"/>
          </a:xfrm>
          <a:prstGeom prst="rect">
            <a:avLst/>
          </a:prstGeom>
          <a:solidFill>
            <a:srgbClr val="DA6F57"/>
          </a:solidFill>
          <a:ln>
            <a:solidFill>
              <a:srgbClr val="DA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920240"/>
            <a:ext cx="2221992" cy="43891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500" b="1">
                <a:solidFill>
                  <a:srgbClr val="133037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441448"/>
            <a:ext cx="2221992" cy="20116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800" b="1">
                <a:solidFill>
                  <a:srgbClr val="657779"/>
                </a:solidFill>
                <a:latin typeface="Aptos"/>
              </a:defRPr>
            </a:pPr>
            <a:r>
              <a:t>REFRESHABLE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38328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383280"/>
            <a:ext cx="73152" cy="1508760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685032"/>
            <a:ext cx="278892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4133087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0">
                <a:solidFill>
                  <a:srgbClr val="657779"/>
                </a:solidFill>
                <a:latin typeface="Aptos"/>
              </a:defRPr>
            </a:pPr>
            <a:r>
              <a:t>Readiness, capability mix, serviceability, formations and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338328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07992" y="3383280"/>
            <a:ext cx="73152" cy="1508760"/>
          </a:xfrm>
          <a:prstGeom prst="rect">
            <a:avLst/>
          </a:prstGeom>
          <a:solidFill>
            <a:srgbClr val="F1BC51"/>
          </a:solidFill>
          <a:ln>
            <a:solidFill>
              <a:srgbClr val="F1B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3685032"/>
            <a:ext cx="278892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Units &amp; subunits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4133087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0">
                <a:solidFill>
                  <a:srgbClr val="657779"/>
                </a:solidFill>
                <a:latin typeface="Aptos"/>
              </a:defRPr>
            </a:pPr>
            <a:r>
              <a:t>Formation slicer with holdings and ready 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338328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3383280"/>
            <a:ext cx="73152" cy="1508760"/>
          </a:xfrm>
          <a:prstGeom prst="rect">
            <a:avLst/>
          </a:prstGeom>
          <a:solidFill>
            <a:srgbClr val="DA6F57"/>
          </a:solidFill>
          <a:ln>
            <a:solidFill>
              <a:srgbClr val="DA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94776" y="3685032"/>
            <a:ext cx="278892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Fleet register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4133087"/>
            <a:ext cx="2743200" cy="5029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200" b="0">
                <a:solidFill>
                  <a:srgbClr val="657779"/>
                </a:solidFill>
                <a:latin typeface="Aptos"/>
              </a:defRPr>
            </a:pPr>
            <a:r>
              <a:t>Search across IDs, names, OEMs and units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39496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1">
                <a:solidFill>
                  <a:srgbClr val="146B68"/>
                </a:solidFill>
                <a:latin typeface="Aptos"/>
              </a:defRPr>
            </a:pPr>
            <a:r>
              <a:t>Power BI handoff: dashboard/fleet_register.csv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39496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1">
                <a:solidFill>
                  <a:srgbClr val="146B68"/>
                </a:solidFill>
                <a:latin typeface="Aptos"/>
              </a:defRPr>
            </a:pPr>
            <a:r>
              <a:t>Local simulation: dashboard/index.html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EFFORT INVESTED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9875520" cy="56692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Engineering effort was concentrated in correctness and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GENERATOR  / 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ESTIMATED EFFORT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1">
                <a:solidFill>
                  <a:srgbClr val="1E2A2C"/>
                </a:solidFill>
                <a:latin typeface="Aptos"/>
              </a:defRPr>
            </a:pPr>
            <a:r>
              <a:t>Workflow design &amp; notebook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267712"/>
            <a:ext cx="5760720" cy="210312"/>
          </a:xfrm>
          <a:prstGeom prst="rect">
            <a:avLst/>
          </a:prstGeom>
          <a:solidFill>
            <a:srgbClr val="E8EDE9"/>
          </a:solidFill>
          <a:ln>
            <a:solidFill>
              <a:srgbClr val="E8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2267712"/>
            <a:ext cx="1440180" cy="210312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212848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1300" b="1">
                <a:solidFill>
                  <a:srgbClr val="133037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9776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1">
                <a:solidFill>
                  <a:srgbClr val="1E2A2C"/>
                </a:solidFill>
                <a:latin typeface="Aptos"/>
              </a:defRPr>
            </a:pPr>
            <a:r>
              <a:t>Validation &amp; continuity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834640"/>
            <a:ext cx="5760720" cy="210312"/>
          </a:xfrm>
          <a:prstGeom prst="rect">
            <a:avLst/>
          </a:prstGeom>
          <a:solidFill>
            <a:srgbClr val="E8EDE9"/>
          </a:solidFill>
          <a:ln>
            <a:solidFill>
              <a:srgbClr val="E8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834640"/>
            <a:ext cx="1440180" cy="210312"/>
          </a:xfrm>
          <a:prstGeom prst="rect">
            <a:avLst/>
          </a:prstGeom>
          <a:solidFill>
            <a:srgbClr val="DA6F57"/>
          </a:solidFill>
          <a:ln>
            <a:solidFill>
              <a:srgbClr val="DA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779776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1300" b="1">
                <a:solidFill>
                  <a:srgbClr val="133037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46704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1">
                <a:solidFill>
                  <a:srgbClr val="1E2A2C"/>
                </a:solidFill>
                <a:latin typeface="Aptos"/>
              </a:defRPr>
            </a:pPr>
            <a:r>
              <a:t>QR and workbook outputs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401568"/>
            <a:ext cx="5760720" cy="210312"/>
          </a:xfrm>
          <a:prstGeom prst="rect">
            <a:avLst/>
          </a:prstGeom>
          <a:solidFill>
            <a:srgbClr val="E8EDE9"/>
          </a:solidFill>
          <a:ln>
            <a:solidFill>
              <a:srgbClr val="E8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3401568"/>
            <a:ext cx="864108" cy="210312"/>
          </a:xfrm>
          <a:prstGeom prst="rect">
            <a:avLst/>
          </a:prstGeom>
          <a:solidFill>
            <a:srgbClr val="F1BC51"/>
          </a:solidFill>
          <a:ln>
            <a:solidFill>
              <a:srgbClr val="F1B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346704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1300" b="1">
                <a:solidFill>
                  <a:srgbClr val="133037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13632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1">
                <a:solidFill>
                  <a:srgbClr val="1E2A2C"/>
                </a:solidFill>
                <a:latin typeface="Aptos"/>
              </a:defRPr>
            </a:pPr>
            <a:r>
              <a:t>Dashboard interaction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968496"/>
            <a:ext cx="5760720" cy="210312"/>
          </a:xfrm>
          <a:prstGeom prst="rect">
            <a:avLst/>
          </a:prstGeom>
          <a:solidFill>
            <a:srgbClr val="E8EDE9"/>
          </a:solidFill>
          <a:ln>
            <a:solidFill>
              <a:srgbClr val="E8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3968496"/>
            <a:ext cx="1152144" cy="210312"/>
          </a:xfrm>
          <a:prstGeom prst="rect">
            <a:avLst/>
          </a:prstGeom>
          <a:solidFill>
            <a:srgbClr val="5288AA"/>
          </a:solidFill>
          <a:ln>
            <a:solidFill>
              <a:srgbClr val="52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91363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1300" b="1">
                <a:solidFill>
                  <a:srgbClr val="133037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300" b="1">
                <a:solidFill>
                  <a:srgbClr val="1E2A2C"/>
                </a:solidFill>
                <a:latin typeface="Aptos"/>
              </a:defRPr>
            </a:pPr>
            <a:r>
              <a:t>Power BI data preparation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535424"/>
            <a:ext cx="5760720" cy="210312"/>
          </a:xfrm>
          <a:prstGeom prst="rect">
            <a:avLst/>
          </a:prstGeom>
          <a:solidFill>
            <a:srgbClr val="E8EDE9"/>
          </a:solidFill>
          <a:ln>
            <a:solidFill>
              <a:srgbClr val="E8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4535424"/>
            <a:ext cx="864108" cy="210312"/>
          </a:xfrm>
          <a:prstGeom prst="rect">
            <a:avLst/>
          </a:prstGeom>
          <a:solidFill>
            <a:srgbClr val="67B396"/>
          </a:solidFill>
          <a:ln>
            <a:solidFill>
              <a:srgbClr val="67B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448056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1300" b="1">
                <a:solidFill>
                  <a:srgbClr val="133037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5230368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DDEFE5"/>
          </a:solidFill>
          <a:ln>
            <a:solidFill>
              <a:srgbClr val="DD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5376672"/>
            <a:ext cx="10058400" cy="256032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1100" b="0">
                <a:solidFill>
                  <a:srgbClr val="657779"/>
                </a:solidFill>
                <a:latin typeface="Aptos"/>
              </a:defRPr>
            </a:pPr>
            <a:r>
              <a:t>Estimate basis: relative allocation of development attention from the delivered modules; not a timesheet or billing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READINESS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9875520" cy="566928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2700" b="1">
                <a:solidFill>
                  <a:srgbClr val="133037"/>
                </a:solidFill>
                <a:latin typeface="Aptos Display"/>
              </a:defRPr>
            </a:pPr>
            <a:r>
              <a:t>The foundation is ready for a controlled Power BI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43891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r">
              <a:defRPr sz="800" b="1">
                <a:solidFill>
                  <a:srgbClr val="657779"/>
                </a:solidFill>
                <a:latin typeface="Aptos"/>
              </a:defRPr>
            </a:pPr>
            <a:r>
              <a:t>KUIN-G GENERATOR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146B68"/>
          </a:solidFill>
          <a:ln>
            <a:solidFill>
              <a:srgbClr val="14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3429000"/>
          </a:xfrm>
          <a:prstGeom prst="roundRect">
            <a:avLst>
              <a:gd name="adj" fmla="val 8000"/>
            </a:avLst>
          </a:prstGeom>
          <a:solidFill>
            <a:srgbClr val="DDEFE5"/>
          </a:solidFill>
          <a:ln>
            <a:solidFill>
              <a:srgbClr val="DD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1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4389120" cy="21945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Server-generated Drone ID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16-character KUIN-G generation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Duplicate and hierarchy safeguards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PNG, SVG and STL QR distribution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Data-driven interactive panel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Power BI-ready CSV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084831"/>
            <a:ext cx="2468880" cy="228600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>
              <a:defRPr sz="900" b="1">
                <a:solidFill>
                  <a:srgbClr val="146B68"/>
                </a:solidFill>
                <a:latin typeface="Aptos"/>
              </a:defRPr>
            </a:pPr>
            <a:r>
              <a:t>RECOMMENDED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87168"/>
            <a:ext cx="4389120" cy="2194560"/>
          </a:xfrm>
          <a:prstGeom prst="rect">
            <a:avLst/>
          </a:prstGeom>
          <a:noFill/>
        </p:spPr>
        <p:txBody>
          <a:bodyPr wrap="square" l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Connect Power BI to the controlled export location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Add role-based access and refresh ownership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Replace synthetic inventory with approved production input</a:t>
            </a:r>
          </a:p>
          <a:p>
            <a:pPr>
              <a:spcAft>
                <a:spcPts val="1000"/>
              </a:spcAft>
              <a:defRPr sz="1500">
                <a:solidFill>
                  <a:srgbClr val="1E2A2C"/>
                </a:solidFill>
                <a:latin typeface="Aptos"/>
              </a:defRPr>
            </a:pPr>
            <a:r>
              <a:t>•  Add deployment runbook and operational 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833872"/>
            <a:ext cx="10424160" cy="310896"/>
          </a:xfrm>
          <a:prstGeom prst="rect">
            <a:avLst/>
          </a:prstGeom>
          <a:noFill/>
        </p:spPr>
        <p:txBody>
          <a:bodyPr wrap="square" lIns="36576" rIns="36576" tIns="18288" anchor="ctr">
            <a:spAutoFit/>
          </a:bodyPr>
          <a:lstStyle/>
          <a:p>
            <a:pPr algn="ctr">
              <a:defRPr sz="1800" b="1">
                <a:solidFill>
                  <a:srgbClr val="133037"/>
                </a:solidFill>
                <a:latin typeface="Aptos Display"/>
              </a:defRPr>
            </a:pPr>
            <a:r>
              <a:t>Success measure: trusted KUIN-G identity plus fast operational filtering.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